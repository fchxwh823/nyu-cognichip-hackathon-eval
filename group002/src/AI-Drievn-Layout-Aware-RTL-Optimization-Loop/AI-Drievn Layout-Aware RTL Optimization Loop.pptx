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ArialBlack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9fcf2c859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c9fcf2c859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c9fcf2c859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9fcf2c859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c9fcf2c859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c9fcf2c859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9fcf2c85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c9fcf2c85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c9fcf2c859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Bhanuu01/AI-Drievn-Layout-Aware-RTL-Optimization-Loop.g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E84040">
              <a:alpha val="25098"/>
            </a:srgbClr>
          </a:solidFill>
          <a:ln cap="flat" cmpd="sng" w="12700">
            <a:solidFill>
              <a:srgbClr val="E8404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583680" y="-640080"/>
            <a:ext cx="3200400" cy="3200400"/>
          </a:xfrm>
          <a:prstGeom prst="ellipse">
            <a:avLst/>
          </a:prstGeom>
          <a:solidFill>
            <a:srgbClr val="E84040">
              <a:alpha val="40000"/>
            </a:srgbClr>
          </a:solidFill>
          <a:ln cap="flat" cmpd="sng" w="12700">
            <a:solidFill>
              <a:srgbClr val="E8404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109728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200"/>
              <a:buFont typeface="Arial Black"/>
              <a:buNone/>
            </a:pPr>
            <a:r>
              <a:rPr b="1" lang="en-US" sz="4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AI-Drievn Layout-Aware RTL Optimization Loop</a:t>
            </a:r>
            <a:endParaRPr b="1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011680"/>
            <a:ext cx="5943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200"/>
              <a:buFont typeface="Arial Black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</a:rPr>
              <a:t>Pipeline × Cognix</a:t>
            </a:r>
            <a:endParaRPr i="0" sz="4000" u="none" cap="none" strike="noStrike">
              <a:solidFill>
                <a:schemeClr val="dk1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246120"/>
            <a:ext cx="731520" cy="6400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35204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AI-Powered RTL Verification &amp; Self-</a:t>
            </a:r>
            <a:r>
              <a:rPr i="1" lang="en-US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Optimizing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Cognix (ACI) | Hackathon 202</a:t>
            </a:r>
            <a:r>
              <a:rPr lang="en-US" sz="13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5793825" y="3350150"/>
            <a:ext cx="3200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 :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Bhanuja Karumuru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Harshal Pimpalshende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Abhishek Bharadwaj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Saishruti Veda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51" y="4537325"/>
            <a:ext cx="496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https://github.com/Bhanuu01/AI-Drievn-Layout-Aware-RTL-Optimization-Loop.git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Table of Contents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987552"/>
            <a:ext cx="777240" cy="6400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37160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114800" y="1371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371600" y="18288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114800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371600" y="2286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4800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371600" y="2743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Pipeline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114800" y="2743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371600" y="32004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0" y="3200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30352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046720" y="1371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303520" y="18288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Demo &amp;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046720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303520" y="2286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046720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303520" y="2743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046720" y="2743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About the Project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987552"/>
            <a:ext cx="777240" cy="6400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57200" y="1234440"/>
            <a:ext cx="4297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 build an AI-driven RTL verification and self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-optimizing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pipeline that automatically detects, diagnoses, and fixes hardware design bugs — reducing manual debug cycles from hours to seconds.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303520" y="1280160"/>
            <a:ext cx="822960" cy="822960"/>
          </a:xfrm>
          <a:prstGeom prst="ellipse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212080" y="1298448"/>
            <a:ext cx="1005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166360" y="217627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120640" y="24231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Sim → Synth → Timing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675120" y="1463040"/>
            <a:ext cx="822960" cy="822960"/>
          </a:xfrm>
          <a:prstGeom prst="ellipse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583680" y="1481328"/>
            <a:ext cx="1005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537960" y="235915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POWERED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92240" y="26060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Cognix (ACI) LLM Fixes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046720" y="1280160"/>
            <a:ext cx="822960" cy="822960"/>
          </a:xfrm>
          <a:prstGeom prst="ellipse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955280" y="1298448"/>
            <a:ext cx="1005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909560" y="217627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863840" y="24231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Clock Constraint (200MHz)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4114800"/>
            <a:ext cx="1828800" cy="457200"/>
          </a:xfrm>
          <a:prstGeom prst="roundRect">
            <a:avLst>
              <a:gd fmla="val 14000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Verilator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514600" y="4114800"/>
            <a:ext cx="1828800" cy="457200"/>
          </a:xfrm>
          <a:prstGeom prst="roundRect">
            <a:avLst>
              <a:gd fmla="val 14000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514600" y="4114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Yosys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0" y="4114800"/>
            <a:ext cx="1828800" cy="457200"/>
          </a:xfrm>
          <a:prstGeom prst="roundRect">
            <a:avLst>
              <a:gd fmla="val 14000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572000" y="4114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29400" y="4114800"/>
            <a:ext cx="1828800" cy="457200"/>
          </a:xfrm>
          <a:prstGeom prst="roundRect">
            <a:avLst>
              <a:gd fmla="val 14000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629400" y="4114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Cognix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57200" y="27432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57200" y="987552"/>
            <a:ext cx="777240" cy="6400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57200" y="11430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SLOW, MANUAL, ERROR-PRONE L</a:t>
            </a:r>
            <a:r>
              <a:rPr b="1" lang="en-US" sz="1100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AYOUT DESIGNING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1554480"/>
            <a:ext cx="4389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RTL engineers spend 60–70% of project time on debugging. Traditional flows rely on manual review of Verilator logs, Yosys reports, and STA output — disconnected tools with no automated remediation. S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ubsequently, the RTL codes usually do not have design fixes for some parameters that can be optimized in the code before handover to layout engineer.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306324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 automated bug-fix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Timing violations caught too 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Context lost across tool boundaries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Repeated manual iteration cycles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212080" y="4572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Debug Time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212080" y="1097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Simulation Debug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212080" y="1389888"/>
            <a:ext cx="1280160" cy="20116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583680" y="13898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212080" y="1874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Synthesis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212080" y="2167128"/>
            <a:ext cx="640080" cy="20116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5943600" y="216712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212080" y="26517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Timing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212080" y="2944368"/>
            <a:ext cx="800100" cy="20116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103620" y="29443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212080" y="3429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Integration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212080" y="3721608"/>
            <a:ext cx="480060" cy="20116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783580" y="3721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Our Solution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10058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AI Self-</a:t>
            </a:r>
            <a:r>
              <a:rPr b="1" lang="en-US" sz="2200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Optimizing</a:t>
            </a:r>
            <a:r>
              <a:rPr b="1" i="0" lang="en-US" sz="22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 RTL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57200" y="160020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 automated pipeline that ties Verilator simulation, Yosys pre-synthesis, and OpenSTA timing analysis into a single loop — with Cognix AI generating and applying targeted RTL fixes at each failure point.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288036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Auto-</a:t>
            </a:r>
            <a:r>
              <a:rPr lang="en-US" sz="12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checks</a:t>
            </a:r>
            <a:r>
              <a:rPr b="0" i="0" lang="en-US" sz="12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 RTL + testbench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Runs full 3-stage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Formats context-rich prompts for Cognix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Watches for file save → auto-reruns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Archives every successful run with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760720" y="1005840"/>
            <a:ext cx="2926080" cy="10058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760720" y="1005840"/>
            <a:ext cx="73152" cy="100584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943600" y="1097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 Bugs Fixed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943600" y="14630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Verilator → Cognix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760720" y="2267712"/>
            <a:ext cx="2926080" cy="10058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760720" y="2267712"/>
            <a:ext cx="73152" cy="100584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943600" y="235915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 Clean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943600" y="272491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Yosys latch/loop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760720" y="3529584"/>
            <a:ext cx="2926080" cy="10058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760720" y="3529584"/>
            <a:ext cx="73152" cy="100584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943600" y="362102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Timing Met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943600" y="398678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STA WNS &lt; −0.1 ns threshold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Pipeline Architecture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7200" y="804672"/>
            <a:ext cx="777240" cy="6400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274320" y="1005840"/>
            <a:ext cx="1463040" cy="10058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274320" y="10515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274320" y="1463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test/*.sv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82880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RTL + TB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737360" y="1481328"/>
            <a:ext cx="274320" cy="54864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2011680" y="1005840"/>
            <a:ext cx="1463040" cy="10058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2011680" y="10515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2011680" y="1463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Verilator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920240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474720" y="1481328"/>
            <a:ext cx="274320" cy="54864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749040" y="1005840"/>
            <a:ext cx="1463040" cy="10058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3749040" y="10515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🔩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749040" y="1463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Yosys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657600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Pre-Synthesis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212080" y="1481328"/>
            <a:ext cx="274320" cy="54864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5486400" y="1005840"/>
            <a:ext cx="1463040" cy="10058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486400" y="10515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0" y="1463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394960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Timing 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949440" y="1481328"/>
            <a:ext cx="274320" cy="54864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7223760" y="1005840"/>
            <a:ext cx="1463040" cy="100584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7223760" y="10515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223760" y="1463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PASS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132320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All Checks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274320" y="2514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AI FIX LOOPS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274320" y="2880360"/>
            <a:ext cx="8595360" cy="457200"/>
          </a:xfrm>
          <a:prstGeom prst="roundRect">
            <a:avLst>
              <a:gd fmla="val 16000" name="adj"/>
            </a:avLst>
          </a:prstGeom>
          <a:solidFill>
            <a:srgbClr val="F0F0F0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274320" y="2880360"/>
            <a:ext cx="64008" cy="4572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02920" y="290779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SIM FAIL → Cognix formats prompt with Verilator + Yosys logs → Apply fix → Re-run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74320" y="3474720"/>
            <a:ext cx="8595360" cy="457200"/>
          </a:xfrm>
          <a:prstGeom prst="roundRect">
            <a:avLst>
              <a:gd fmla="val 16000" name="adj"/>
            </a:avLst>
          </a:prstGeom>
          <a:solidFill>
            <a:srgbClr val="F0F0F0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74320" y="3474720"/>
            <a:ext cx="64008" cy="4572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02920" y="350215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SYNTH FAIL → Cognix gets Yosys blocking issue context → Fixes latches/loops → Re-run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74320" y="4069080"/>
            <a:ext cx="8595360" cy="457200"/>
          </a:xfrm>
          <a:prstGeom prst="roundRect">
            <a:avLst>
              <a:gd fmla="val 16000" name="adj"/>
            </a:avLst>
          </a:prstGeom>
          <a:solidFill>
            <a:srgbClr val="F0F0F0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74320" y="4069080"/>
            <a:ext cx="64008" cy="4572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02920" y="409651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TIMING FAIL → Cognix receives WNS/TNS + critical path → Restructures RTL → Re-run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Now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The convergence of LLMs + open EDA tools makes this possible today.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65760" y="2286000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365760" y="2286000"/>
            <a:ext cx="64008" cy="109728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48640" y="23774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LLMs Can Read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48640" y="267004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Models like Cognix understand SystemVerilog syntax, timing constraints, and synthesis semantics well enough to generate targeted RTL fixes.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754880" y="2286000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937760" y="23774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 EDA Maturity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937760" y="267004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Verilator, Yosys, and OpenSTA are now stable, scriptable, and freely available — enabling a fully automated verification chain.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65760" y="3566160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48640" y="3657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AI-Native Dev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48640" y="395020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IDE-integrated AI assistants (Cognix ACI) now support 'Apply' workflows, closing the loop between AI suggestion and file modification.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937760" y="3657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Hardware Complexity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937760" y="395020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SoC complexity is doubling every 2 years. Manual RTL debug is no longer sustainable — automation is a necessity, not a luxury.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Key Features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57200" y="850392"/>
            <a:ext cx="777240" cy="6400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Each feature purpose-built for real RTL design environments.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754880" y="9601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4754880" y="10515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75488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Auto-Detect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754880" y="18745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Scans test/ for RTL + TB, identifies top module automatically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263640" y="9601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6263640" y="10515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26364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Cognix AI Fix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263640" y="18745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Formats rich diagnostic prompts; watches for Apply → auto-reruns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772400" y="9601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7772400" y="10515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77240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Yosys Synthesis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772400" y="18745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Latch, loop, and multi-driver detection with netlist export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754880" y="27889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4754880" y="28803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754880" y="3383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OpenSTA Timing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754880" y="37033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WNS/TNS analysis with critical path breakdown for targeted fix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263640" y="27889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263640" y="28803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263640" y="3383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Run Archiving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263640" y="37033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Full logs, VCD, RTL snapshot archived per successful run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772400" y="27889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7772400" y="28803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772400" y="3383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CLI Configurable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772400" y="37033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--clock-period, --liberty, --skip-yosys and more flags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200405" y="18745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3200405" y="1965960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200405" y="2468880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Layout Efficiency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200405" y="27889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Provides better design quality to ensure layout efficiency is relatively higher at the </a:t>
            </a: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initial</a:t>
            </a: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placement phase.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645930" y="18745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1645930" y="1965960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645930" y="2468880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Project Duration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645930" y="27889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An optimized RTL code run through multiple iterations saves months of work.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91455" y="1874520"/>
            <a:ext cx="137160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91455" y="1965960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91455" y="2468880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Communication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91455" y="27889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Acts as a direct pipeline to communicate between RTL Engineer and Layout Engineer.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57200" y="18288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Demo &amp; Results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53505" y="699185"/>
            <a:ext cx="4663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Project Directories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852160" y="2587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1" title="Screenshot 2026-02-20 at 11.45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138" y="1004998"/>
            <a:ext cx="6087726" cy="39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Demo &amp; Results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53505" y="653210"/>
            <a:ext cx="4663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Terminal Process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40080" y="3611880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2"/>
          <p:cNvGrpSpPr/>
          <p:nvPr/>
        </p:nvGrpSpPr>
        <p:grpSpPr>
          <a:xfrm>
            <a:off x="5022995" y="4261113"/>
            <a:ext cx="2060498" cy="664769"/>
            <a:chOff x="5760722" y="1051550"/>
            <a:chExt cx="2834638" cy="914400"/>
          </a:xfrm>
        </p:grpSpPr>
        <p:sp>
          <p:nvSpPr>
            <p:cNvPr id="253" name="Google Shape;253;p12"/>
            <p:cNvSpPr/>
            <p:nvPr/>
          </p:nvSpPr>
          <p:spPr>
            <a:xfrm>
              <a:off x="5760722" y="1051550"/>
              <a:ext cx="1374300" cy="914400"/>
            </a:xfrm>
            <a:prstGeom prst="rect">
              <a:avLst/>
            </a:prstGeom>
            <a:solidFill>
              <a:srgbClr val="222222"/>
            </a:solidFill>
            <a:ln cap="flat" cmpd="sng" w="9225">
              <a:solidFill>
                <a:srgbClr val="E8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6450" lIns="66450" spcFirstLastPara="1" rIns="66450" wrap="square" tIns="6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5852155" y="1097275"/>
              <a:ext cx="12828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225" lIns="66450" spcFirstLastPara="1" rIns="66450" wrap="square" tIns="33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4040"/>
                </a:buClr>
                <a:buSzPts val="1890"/>
                <a:buFont typeface="Arial Black"/>
                <a:buNone/>
              </a:pPr>
              <a:r>
                <a:rPr b="1" i="0" lang="en-US" sz="1890" u="none" cap="none" strike="noStrike">
                  <a:solidFill>
                    <a:srgbClr val="E8404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&lt; 60s</a:t>
              </a:r>
              <a:endParaRPr b="0" i="0" sz="18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5852160" y="1490472"/>
              <a:ext cx="2743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225" lIns="66450" spcFirstLastPara="1" rIns="66450" wrap="square" tIns="33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27"/>
                <a:buFont typeface="Calibri"/>
                <a:buNone/>
              </a:pPr>
              <a:r>
                <a:rPr b="1" i="0" lang="en-US" sz="72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Full Pipeline Run</a:t>
              </a:r>
              <a:endParaRPr b="0" i="0" sz="72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5852155" y="1691650"/>
              <a:ext cx="12828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225" lIns="66450" spcFirstLastPara="1" rIns="66450" wrap="square" tIns="33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B9B9B"/>
                </a:buClr>
                <a:buSzPts val="654"/>
                <a:buFont typeface="Calibri"/>
                <a:buNone/>
              </a:pPr>
              <a:r>
                <a:rPr b="0" i="0" lang="en-US" sz="654" u="none" cap="none" strike="noStrike">
                  <a:solidFill>
                    <a:srgbClr val="9B9B9B"/>
                  </a:solidFill>
                  <a:latin typeface="Calibri"/>
                  <a:ea typeface="Calibri"/>
                  <a:cs typeface="Calibri"/>
                  <a:sym typeface="Calibri"/>
                </a:rPr>
                <a:t>Sim + Synth + Timing</a:t>
              </a:r>
              <a:endParaRPr b="0" i="0" sz="65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2"/>
          <p:cNvSpPr/>
          <p:nvPr/>
        </p:nvSpPr>
        <p:spPr>
          <a:xfrm>
            <a:off x="5852160" y="2587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2" title="Screenshot 2026-02-20 at 11.33.23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227" y="948562"/>
            <a:ext cx="3440171" cy="350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2" title="Screenshot 2026-02-20 at 11.35.3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4200" y="992862"/>
            <a:ext cx="4916923" cy="3157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12"/>
          <p:cNvGrpSpPr/>
          <p:nvPr/>
        </p:nvGrpSpPr>
        <p:grpSpPr>
          <a:xfrm>
            <a:off x="7083495" y="4261113"/>
            <a:ext cx="2060498" cy="664769"/>
            <a:chOff x="5760722" y="1051550"/>
            <a:chExt cx="2834638" cy="914400"/>
          </a:xfrm>
        </p:grpSpPr>
        <p:sp>
          <p:nvSpPr>
            <p:cNvPr id="261" name="Google Shape;261;p12"/>
            <p:cNvSpPr/>
            <p:nvPr/>
          </p:nvSpPr>
          <p:spPr>
            <a:xfrm>
              <a:off x="5760722" y="1051550"/>
              <a:ext cx="1374300" cy="914400"/>
            </a:xfrm>
            <a:prstGeom prst="rect">
              <a:avLst/>
            </a:prstGeom>
            <a:solidFill>
              <a:srgbClr val="222222"/>
            </a:solidFill>
            <a:ln cap="flat" cmpd="sng" w="9225">
              <a:solidFill>
                <a:srgbClr val="E8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6450" lIns="66450" spcFirstLastPara="1" rIns="66450" wrap="square" tIns="6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5852155" y="1097275"/>
              <a:ext cx="12828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225" lIns="66450" spcFirstLastPara="1" rIns="66450" wrap="square" tIns="332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84040"/>
                </a:buClr>
                <a:buSzPts val="1890"/>
                <a:buFont typeface="Arial Black"/>
                <a:buNone/>
              </a:pPr>
              <a:r>
                <a:rPr b="1" lang="en-US" sz="1890">
                  <a:solidFill>
                    <a:srgbClr val="E8404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endParaRPr b="0" i="0" sz="18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5852160" y="1490472"/>
              <a:ext cx="2743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225" lIns="66450" spcFirstLastPara="1" rIns="66450" wrap="square" tIns="33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Calibri"/>
                <a:buNone/>
              </a:pPr>
              <a:r>
                <a:rPr b="1" lang="en-US" sz="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 Fix Iterations</a:t>
              </a:r>
              <a:endParaRPr b="1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5852155" y="1691650"/>
              <a:ext cx="12828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225" lIns="66450" spcFirstLastPara="1" rIns="66450" wrap="square" tIns="332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654">
                  <a:solidFill>
                    <a:srgbClr val="9B9B9B"/>
                  </a:solidFill>
                  <a:latin typeface="Calibri"/>
                  <a:ea typeface="Calibri"/>
                  <a:cs typeface="Calibri"/>
                  <a:sym typeface="Calibri"/>
                </a:rPr>
                <a:t>Configurable via --max</a:t>
              </a:r>
              <a:endParaRPr sz="654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457200" y="18288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Demo &amp; Results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53505" y="653210"/>
            <a:ext cx="4663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WaveForm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852160" y="2587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3" title="Screenshot 2026-02-20 at 11.50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288" y="836200"/>
            <a:ext cx="6321976" cy="4105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3"/>
          <p:cNvSpPr/>
          <p:nvPr/>
        </p:nvSpPr>
        <p:spPr>
          <a:xfrm>
            <a:off x="4726900" y="653200"/>
            <a:ext cx="242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E84040"/>
                </a:solidFill>
                <a:latin typeface="Consolas"/>
                <a:ea typeface="Consolas"/>
                <a:cs typeface="Consolas"/>
                <a:sym typeface="Consolas"/>
              </a:rPr>
              <a:t>WaveForm of “up_down_counter_tb”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Tech Stack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457200" y="850392"/>
            <a:ext cx="777240" cy="6400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365760" y="1097280"/>
            <a:ext cx="64008" cy="530352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566928" y="113385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566928" y="135331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Verilator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2423160" y="121615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--binary --timing --trace | SystemVerilog | VCD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8046720" y="12618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365760" y="1709928"/>
            <a:ext cx="8412480" cy="530352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365760" y="1709928"/>
            <a:ext cx="64008" cy="5303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566928" y="174650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PRE-SYNTHESIS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566928" y="1965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Yosys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2423160" y="182880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read_verilog -sv | hierarchy -check | synth | check -assert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365760" y="2322576"/>
            <a:ext cx="84124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365760" y="2322576"/>
            <a:ext cx="64008" cy="5303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566928" y="235915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TIMING 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66928" y="25786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2423160" y="2441448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NanGate45 Liberty (auto-dl) | WNS/TNS | Critical path 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365760" y="2935224"/>
            <a:ext cx="8412480" cy="530352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365760" y="2935224"/>
            <a:ext cx="64008" cy="530352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566928" y="29718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AI FIX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566928" y="319125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Cognix (ACI)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2423160" y="305409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Context-rich prompts | ACI Apply button | File-watch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8046720" y="309981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365760" y="3547872"/>
            <a:ext cx="84124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365760" y="3547872"/>
            <a:ext cx="64008" cy="530352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566928" y="358444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66928" y="380390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 3.10+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2423160" y="3666744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subprocess | pathlib | watchdog | argparse | json logging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8046720" y="37124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365760" y="4160520"/>
            <a:ext cx="8412480" cy="530352"/>
          </a:xfrm>
          <a:prstGeom prst="rect">
            <a:avLst/>
          </a:prstGeom>
          <a:solidFill>
            <a:srgbClr val="F8F8F8"/>
          </a:solidFill>
          <a:ln cap="flat" cmpd="sng" w="12700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365760" y="4160520"/>
            <a:ext cx="64008" cy="530352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566928" y="419709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HDL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566928" y="441655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SystemVerilog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2423160" y="42793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RTL + Testbench (.sv) | $dumpfile/$dumpvars | $finish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8046720" y="4325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84040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8046745" y="1874447"/>
            <a:ext cx="82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b="0" i="0" sz="700" u="none" cap="none" strike="noStrike">
              <a:solidFill>
                <a:srgbClr val="9B9B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8046745" y="2487097"/>
            <a:ext cx="82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b="0" i="0" sz="700" u="none" cap="none" strike="noStrike">
              <a:solidFill>
                <a:srgbClr val="9B9B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"/>
          <p:cNvSpPr/>
          <p:nvPr/>
        </p:nvSpPr>
        <p:spPr>
          <a:xfrm>
            <a:off x="457200" y="18288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Future Scope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457200" y="850392"/>
            <a:ext cx="777300" cy="639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274320" y="1097280"/>
            <a:ext cx="1920300" cy="3474600"/>
          </a:xfrm>
          <a:prstGeom prst="rect">
            <a:avLst/>
          </a:prstGeom>
          <a:solidFill>
            <a:srgbClr val="FFD6D6"/>
          </a:solidFill>
          <a:ln cap="flat" cmpd="sng" w="12700">
            <a:solidFill>
              <a:srgbClr val="FF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274320" y="114300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 Black"/>
              <a:buNone/>
            </a:pPr>
            <a:r>
              <a:rPr b="1" lang="en-US" sz="2700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Phase 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411480" y="1783080"/>
            <a:ext cx="1645800" cy="36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347472" y="1920240"/>
            <a:ext cx="17832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66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"/>
              <a:buFont typeface="Calibri"/>
              <a:buChar char="•"/>
            </a:pPr>
            <a:r>
              <a:rPr lang="en-US" sz="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Cognix API is provided, the flow of RTL codes can be automated.</a:t>
            </a:r>
            <a:endParaRPr sz="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"/>
              <a:buFont typeface="Calibri"/>
              <a:buChar char="•"/>
            </a:pPr>
            <a:r>
              <a:rPr lang="en-US" sz="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Minimizes the necessity of manual labour which is tedious and significantly slower and less efficient.</a:t>
            </a:r>
            <a:endParaRPr sz="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•"/>
            </a:pP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MCMM Timing Awareness - AI optimizes RTL across multiple PVT timing corners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•"/>
            </a:pP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Space Exploration (DSE) - AI evaluates architectures for latency, area, throughput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•"/>
            </a:pP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Explainable AI Debugging - Generates explanations for every RTL code fix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•"/>
            </a:pP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Mixed-Signal Co-Simulation Support - Integrates Verilog-AMS/SystemC for SoC debugging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•"/>
            </a:pP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 Hardware Integration - Automates RTL validation during design commits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•"/>
            </a:pP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FPGA-in-the-Loop Validation - Tests AI-modified RTL on FPGA hardware</a:t>
            </a:r>
            <a:endParaRPr sz="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2423160" y="1097280"/>
            <a:ext cx="1920300" cy="3474600"/>
          </a:xfrm>
          <a:prstGeom prst="rect">
            <a:avLst/>
          </a:prstGeom>
          <a:solidFill>
            <a:srgbClr val="FFBCBC"/>
          </a:solidFill>
          <a:ln cap="flat" cmpd="sng" w="12700">
            <a:solidFill>
              <a:srgbClr val="FF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2423160" y="114300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 Black"/>
              <a:buNone/>
            </a:pPr>
            <a:r>
              <a:rPr b="1" lang="en-US" sz="2700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Phase 2</a:t>
            </a:r>
            <a:endParaRPr b="1" sz="3600">
              <a:solidFill>
                <a:srgbClr val="1A1A1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2560320" y="1783080"/>
            <a:ext cx="1645800" cy="36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2496312" y="1920240"/>
            <a:ext cx="17832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Analysis tools shall be integrated into this to perform analysis for pre-layout quality checks.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Thereby, partial layout </a:t>
            </a: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improvement is done without even reaching layout phase.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4572000" y="1097280"/>
            <a:ext cx="1920300" cy="3474600"/>
          </a:xfrm>
          <a:prstGeom prst="rect">
            <a:avLst/>
          </a:prstGeom>
          <a:solidFill>
            <a:srgbClr val="F08080"/>
          </a:solidFill>
          <a:ln cap="flat" cmpd="sng" w="12700">
            <a:solidFill>
              <a:srgbClr val="F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4572000" y="114300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 Black"/>
              <a:buNone/>
            </a:pPr>
            <a:r>
              <a:rPr b="1" lang="en-US" sz="2700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Phase 3</a:t>
            </a:r>
            <a:endParaRPr b="1" sz="3600">
              <a:solidFill>
                <a:srgbClr val="1A1A1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709160" y="1783080"/>
            <a:ext cx="1645800" cy="36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4645152" y="1920240"/>
            <a:ext cx="17832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Cognix then becomes a smart assistant to layout engineers as they progress to generate netlist on tools such as Cadence Genus.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Following that, Layout can be designed on tools such as Cadence Innovus.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Further</a:t>
            </a: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verification </a:t>
            </a: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performed using tools such as Cadence Tempus, Pegasus and Quantus for full Signoff. 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6720840" y="1097280"/>
            <a:ext cx="1920300" cy="3474600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6720840" y="114300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 Black"/>
              <a:buNone/>
            </a:pPr>
            <a:r>
              <a:rPr b="1" lang="en-US" sz="2700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Phase 4</a:t>
            </a:r>
            <a:endParaRPr b="1" sz="3600">
              <a:solidFill>
                <a:srgbClr val="1A1A1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6793992" y="1920240"/>
            <a:ext cx="17832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the process on multiple designs.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tests proving how the addition of AI to semiconductor design is a massive boost to manufacturing thereby cutting the shortage globally.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Subsequently figure out techniques to allow for layout engineers to verify and adopt possible designs using the help of AI using layout placement ideas.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these steps will require funding and support from Cognichip AI.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6858000" y="1783080"/>
            <a:ext cx="1645800" cy="36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F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/>
          <p:nvPr/>
        </p:nvSpPr>
        <p:spPr>
          <a:xfrm>
            <a:off x="-1371600" y="274320"/>
            <a:ext cx="4572000" cy="4572000"/>
          </a:xfrm>
          <a:prstGeom prst="ellipse">
            <a:avLst/>
          </a:prstGeom>
          <a:solidFill>
            <a:srgbClr val="E84040">
              <a:alpha val="18039"/>
            </a:srgbClr>
          </a:solidFill>
          <a:ln cap="flat" cmpd="sng" w="12700">
            <a:solidFill>
              <a:srgbClr val="E84040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-731520" y="731520"/>
            <a:ext cx="3474720" cy="3474720"/>
          </a:xfrm>
          <a:prstGeom prst="ellipse">
            <a:avLst/>
          </a:prstGeom>
          <a:solidFill>
            <a:srgbClr val="E84040">
              <a:alpha val="30196"/>
            </a:srgbClr>
          </a:solidFill>
          <a:ln cap="flat" cmpd="sng" w="12700">
            <a:solidFill>
              <a:srgbClr val="E8404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4572000" y="109728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7498080" y="2286000"/>
            <a:ext cx="731520" cy="64008"/>
          </a:xfrm>
          <a:prstGeom prst="rect">
            <a:avLst/>
          </a:prstGeom>
          <a:solidFill>
            <a:srgbClr val="E84040"/>
          </a:solidFill>
          <a:ln cap="flat" cmpd="sng" w="12700">
            <a:solidFill>
              <a:srgbClr val="E8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4572000" y="25146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AI-Driven Layout-Aware RTL Optimization Loop</a:t>
            </a:r>
            <a:endParaRPr>
              <a:solidFill>
                <a:srgbClr val="5A5A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4572000" y="29260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Hackathon </a:t>
            </a:r>
            <a:r>
              <a:rPr lang="en-US" sz="1200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